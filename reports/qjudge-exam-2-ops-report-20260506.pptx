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bb5900cc8e4859" /><Relationship Type="http://schemas.openxmlformats.org/officeDocument/2006/relationships/extended-properties" Target="/docProps/app.xml" Id="R0c39e24b6bcd4b52" /><Relationship Type="http://schemas.openxmlformats.org/officeDocument/2006/relationships/officeDocument" Target="/ppt/presentation.xml" Id="Rf188984d9ef14f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59d730a92843be"/>
  </p:sldMasterIdLst>
  <p:notesMasterIdLst>
    <p:notesMasterId xmlns:r="http://schemas.openxmlformats.org/officeDocument/2006/relationships" r:id="Rbd3ea633c5874469"/>
  </p:notesMasterIdLst>
  <p:sldIdLst>
    <p:sldId xmlns:r="http://schemas.openxmlformats.org/officeDocument/2006/relationships" id="256" r:id="R22457cc7c56d4f4c"/>
    <p:sldId xmlns:r="http://schemas.openxmlformats.org/officeDocument/2006/relationships" id="257" r:id="Red6d31e4db4a4c3f"/>
    <p:sldId xmlns:r="http://schemas.openxmlformats.org/officeDocument/2006/relationships" id="258" r:id="R2874227fd6ca41e6"/>
    <p:sldId xmlns:r="http://schemas.openxmlformats.org/officeDocument/2006/relationships" id="259" r:id="R22d06acf993f4d7f"/>
    <p:sldId xmlns:r="http://schemas.openxmlformats.org/officeDocument/2006/relationships" id="260" r:id="R00e12f573149401e"/>
    <p:sldId xmlns:r="http://schemas.openxmlformats.org/officeDocument/2006/relationships" id="261" r:id="R46122a784b3044d0"/>
    <p:sldId xmlns:r="http://schemas.openxmlformats.org/officeDocument/2006/relationships" id="262" r:id="Rfbde83dd3f984370"/>
    <p:sldId xmlns:r="http://schemas.openxmlformats.org/officeDocument/2006/relationships" id="263" r:id="Rc80ff0b4b10c490d"/>
    <p:sldId xmlns:r="http://schemas.openxmlformats.org/officeDocument/2006/relationships" id="264" r:id="R70fd1ebdae874adb"/>
    <p:sldId xmlns:r="http://schemas.openxmlformats.org/officeDocument/2006/relationships" id="265" r:id="R3357750c9a82404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59d730a92843be" /><Relationship Type="http://schemas.openxmlformats.org/officeDocument/2006/relationships/theme" Target="/ppt/theme/theme1.xml" Id="R5e3678fbec564bd6" /><Relationship Type="http://schemas.openxmlformats.org/officeDocument/2006/relationships/notesMaster" Target="/ppt/notesMasters/notesMaster1.xml" Id="Rbd3ea633c5874469" /><Relationship Type="http://schemas.openxmlformats.org/officeDocument/2006/relationships/presProps" Target="/ppt/presProps.xml" Id="R3792b42d927b4a9b" /><Relationship Type="http://schemas.openxmlformats.org/officeDocument/2006/relationships/viewProps" Target="/ppt/viewProps.xml" Id="R654e8e5c34d241ae" /><Relationship Type="http://schemas.openxmlformats.org/officeDocument/2006/relationships/tableStyles" Target="/ppt/tableStyles.xml" Id="Rc4e1555e913c40d3" /><Relationship Type="http://schemas.openxmlformats.org/officeDocument/2006/relationships/slide" Target="/ppt/slides/slide1.xml" Id="R22457cc7c56d4f4c" /><Relationship Type="http://schemas.openxmlformats.org/officeDocument/2006/relationships/slide" Target="/ppt/slides/slide2.xml" Id="Red6d31e4db4a4c3f" /><Relationship Type="http://schemas.openxmlformats.org/officeDocument/2006/relationships/slide" Target="/ppt/slides/slide3.xml" Id="R2874227fd6ca41e6" /><Relationship Type="http://schemas.openxmlformats.org/officeDocument/2006/relationships/slide" Target="/ppt/slides/slide4.xml" Id="R22d06acf993f4d7f" /><Relationship Type="http://schemas.openxmlformats.org/officeDocument/2006/relationships/slide" Target="/ppt/slides/slide5.xml" Id="R00e12f573149401e" /><Relationship Type="http://schemas.openxmlformats.org/officeDocument/2006/relationships/slide" Target="/ppt/slides/slide6.xml" Id="R46122a784b3044d0" /><Relationship Type="http://schemas.openxmlformats.org/officeDocument/2006/relationships/slide" Target="/ppt/slides/slide7.xml" Id="Rfbde83dd3f984370" /><Relationship Type="http://schemas.openxmlformats.org/officeDocument/2006/relationships/slide" Target="/ppt/slides/slide8.xml" Id="Rc80ff0b4b10c490d" /><Relationship Type="http://schemas.openxmlformats.org/officeDocument/2006/relationships/slide" Target="/ppt/slides/slide9.xml" Id="R70fd1ebdae874adb" /><Relationship Type="http://schemas.openxmlformats.org/officeDocument/2006/relationships/slide" Target="/ppt/slides/slide10.xml" Id="R3357750c9a8240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f0472dde98c45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bc77321f4d486a" /><Relationship Type="http://schemas.openxmlformats.org/officeDocument/2006/relationships/notesMaster" Target="/ppt/notesMasters/notesMaster1.xml" Id="R27571df3b4874d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195fae45a548eb" /><Relationship Type="http://schemas.openxmlformats.org/officeDocument/2006/relationships/notesMaster" Target="/ppt/notesMasters/notesMaster1.xml" Id="R828624cfcfc446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6d46beaa7046c9" /><Relationship Type="http://schemas.openxmlformats.org/officeDocument/2006/relationships/notesMaster" Target="/ppt/notesMasters/notesMaster1.xml" Id="Rb5212634a1f94a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75bdcd90604676" /><Relationship Type="http://schemas.openxmlformats.org/officeDocument/2006/relationships/notesMaster" Target="/ppt/notesMasters/notesMaster1.xml" Id="R7ba92769875442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ea895e0d1a49da" /><Relationship Type="http://schemas.openxmlformats.org/officeDocument/2006/relationships/notesMaster" Target="/ppt/notesMasters/notesMaster1.xml" Id="R76b94bac5b5642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490a2cb9954ecd" /><Relationship Type="http://schemas.openxmlformats.org/officeDocument/2006/relationships/notesMaster" Target="/ppt/notesMasters/notesMaster1.xml" Id="Rd8baf8b753bb4a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36b45f23bb4a93" /><Relationship Type="http://schemas.openxmlformats.org/officeDocument/2006/relationships/notesMaster" Target="/ppt/notesMasters/notesMaster1.xml" Id="Rf4a5867a7a6443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fdfcbb0d884a80" /><Relationship Type="http://schemas.openxmlformats.org/officeDocument/2006/relationships/notesMaster" Target="/ppt/notesMasters/notesMaster1.xml" Id="R3187fe8d1a1545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0dcf14237941f0" /><Relationship Type="http://schemas.openxmlformats.org/officeDocument/2006/relationships/notesMaster" Target="/ppt/notesMasters/notesMaster1.xml" Id="R6cb9bb189ec149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32f990e9b84bc5" /><Relationship Type="http://schemas.openxmlformats.org/officeDocument/2006/relationships/notesMaster" Target="/ppt/notesMasters/notesMaster1.xml" Id="R57c2afc21ad24b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627ed2bc6c46f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27dd36621a849d5" /><Relationship Type="http://schemas.openxmlformats.org/officeDocument/2006/relationships/slideLayout" Target="/ppt/slideLayouts/slideLayout2.xml" Id="R6123fe40fc3345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23fe40fc3345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6abc7880634c3f" /><Relationship Type="http://schemas.openxmlformats.org/officeDocument/2006/relationships/notesSlide" Target="/ppt/notesSlides/notesSlide1.xml" Id="R443c5bf53e4e47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5fc542320a464a" /><Relationship Type="http://schemas.openxmlformats.org/officeDocument/2006/relationships/notesSlide" Target="/ppt/notesSlides/notesSlide2.xml" Id="R5ba2bc88063248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136d2fff254314" /><Relationship Type="http://schemas.openxmlformats.org/officeDocument/2006/relationships/notesSlide" Target="/ppt/notesSlides/notesSlide3.xml" Id="R02478aeccccd41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3b3453b65a4857" /><Relationship Type="http://schemas.openxmlformats.org/officeDocument/2006/relationships/notesSlide" Target="/ppt/notesSlides/notesSlide4.xml" Id="R74f9e42b370047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93d42e98a04a59" /><Relationship Type="http://schemas.openxmlformats.org/officeDocument/2006/relationships/notesSlide" Target="/ppt/notesSlides/notesSlide5.xml" Id="Rd3b4d2686c754a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4a6ad6df56441d" /><Relationship Type="http://schemas.openxmlformats.org/officeDocument/2006/relationships/notesSlide" Target="/ppt/notesSlides/notesSlide6.xml" Id="Rc62a1ed116e946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946c0f35884748" /><Relationship Type="http://schemas.openxmlformats.org/officeDocument/2006/relationships/notesSlide" Target="/ppt/notesSlides/notesSlide7.xml" Id="R9f89167d0a804e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7352b0ffbb44c1" /><Relationship Type="http://schemas.openxmlformats.org/officeDocument/2006/relationships/notesSlide" Target="/ppt/notesSlides/notesSlide8.xml" Id="R8101b256776041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ce5dc6e5ff42e8" /><Relationship Type="http://schemas.openxmlformats.org/officeDocument/2006/relationships/notesSlide" Target="/ppt/notesSlides/notesSlide9.xml" Id="R1b1aea9b331349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043e6c6cb94bd5" /><Relationship Type="http://schemas.openxmlformats.org/officeDocument/2006/relationships/notesSlide" Target="/ppt/notesSlides/notesSlide10.xml" Id="R4b6f95a593e74e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254702-875A-4866-832C-88213F9E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21616-0C9F-4EC6-9F0A-75EA5E68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5791200"/>
          </a:xfrm>
          <a:prstGeom xmlns:a="http://schemas.openxmlformats.org/drawingml/2006/main" prst="roundRect">
            <a:avLst>
              <a:gd name="adj" fmla="val 1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D5B0E-4698-4982-93F1-114A23D5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11163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E8C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337F4-2893-4791-93AC-54A74B44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B7E8C"/>
                </a:solidFill>
                <a:latin typeface="Aptos"/>
                <a:ea typeface="Aptos"/>
                <a:cs typeface="Aptos"/>
              </a:defRPr>
            </a:pPr>
            <a:r>
              <a:t>QJUDGE EXAM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A5528-D2E7-421C-B0A4-D2F2C3CB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742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Exam 2 系統運行報告與紀錄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68A1F-D11C-430B-AC4B-FBCA576D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System Operation Report / 2026-05-06 10:00-12:00 Asia/Taipei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1904F-0E32-4BCB-BC13-B2F8B6D6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Contest ID  10ad193f-5113-456a-808a-4d20e057203d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E264B-A8A4-4FB4-A5DB-5A6161E5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286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D1219-4BA6-4A9D-8770-E19CFDB7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B8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AB285-4FA2-4EA5-B260-0F3D1379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148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155,688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09CF2-8450-400B-8736-DDEBE176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9580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D5B8A"/>
                </a:solidFill>
                <a:latin typeface="Aptos"/>
                <a:ea typeface="Aptos"/>
                <a:cs typeface="Aptos"/>
              </a:defRPr>
            </a:pPr>
            <a:r>
              <a:t>HTTP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6CC28F-47CF-4B75-A86D-51E74AF3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44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requests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269F1-9A27-451E-997E-8E10CAF3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43350"/>
            <a:ext cx="2286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104A8-D8E5-4A01-8F09-CAE7A5BE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433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55BE9-C5D2-4FA6-90D8-0F8A3A3E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148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0 /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B9C4F-CDC6-4018-964B-E2A0A046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9580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5XX / 429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921FF-BB22-43BE-BB08-17B6FCB1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244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server errors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1FF97-B246-492B-816A-2730C7C3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43350"/>
            <a:ext cx="2286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3DE16-6D3C-487B-AF55-3017A043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433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B8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2C5F4B-04DC-47F3-87E3-67AF7BBF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148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1,588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99F63-DF40-4C3C-9174-F1753A2C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9580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D5B8A"/>
                </a:solidFill>
                <a:latin typeface="Aptos"/>
                <a:ea typeface="Aptos"/>
                <a:cs typeface="Aptos"/>
              </a:defRPr>
            </a:pPr>
            <a: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CD037-08EF-40F4-9497-C61B78C3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244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R2 objects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6193E-E442-41E9-B49C-FD9AA21F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43350"/>
            <a:ext cx="2286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5BCCC-70F7-480D-9753-C5B3730A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43350"/>
            <a:ext cx="57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B8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5F3DE1-8CCA-4353-948B-D7404CDC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1480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134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B09977-4DE1-47BA-8F56-7E2F92C7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9580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D5B8A"/>
                </a:solidFill>
                <a:latin typeface="Aptos"/>
                <a:ea typeface="Aptos"/>
                <a:cs typeface="Aptos"/>
              </a:defRPr>
            </a:pPr>
            <a:r>
              <a:t>PARTICIPANTS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1918B8-89B0-4AAE-8C17-1EF28A9E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24400"/>
            <a:ext cx="1885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registered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71D637-29B0-4F5C-A462-C6D9D0A2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800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Prepared from production logs, DB aggregation, Prometheus exporters, and Cloudflare R2 object listing.</a:t>
            </a:r>
          </a:p>
        </p:txBody>
      </p:sp>
    </p:spTree>
    <p:extLst>
      <p:ext uri="{BB962C8B-B14F-4D97-AF65-F5344CB8AC3E}">
        <p14:creationId xmlns:p14="http://schemas.microsoft.com/office/powerpoint/2010/main" val="2000761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445D2E-8DA0-4A01-B420-7EB55767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B4CAE-41C8-4616-93D8-06D816C9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E1AE6-4F43-4FAC-8D09-3F799DE9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QJUDGE EXAM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24AAD-2698-4F8D-B7FB-ED6BD553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Executive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CB671-8A12-488D-AD66-05559698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D0A26-4A16-433C-994E-62FD0A94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Source: production logs, DB aggregation, Prometheus exporters, R2 object listing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3DE6D-FE92-44DF-8946-E9A5C9B5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2047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2026-05-06 10:00-12:00 Asia/Taipei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5284D1-CD53-46B1-B161-CBCF8DCC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953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185D8-DB49-41F4-A131-20F25334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9BA04-F706-4D7B-B74C-8AB2ED50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155,688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A49BA-CFEC-4D6A-AC1A-9657A0FF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HTTP REQUESTS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20C19-6538-46A2-BA1F-58D9883D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455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0 server errors, 0 rate limits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636B6-3B14-4C8F-BAED-E3D746F8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4953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7E27F-D704-4E4A-BC07-B2F780F0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E8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7D018-5395-4044-B30F-E5744735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2405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134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ECFB9-6B25-42E7-AE56-CC3339D5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B7E8C"/>
                </a:solidFill>
                <a:latin typeface="Aptos"/>
                <a:ea typeface="Aptos"/>
                <a:cs typeface="Aptos"/>
              </a:defRPr>
            </a:pPr>
            <a:r>
              <a:t>PARTICIPANTS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ECF17-595E-4D42-9635-B2E50790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55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121 entered and reached submitted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D0EC9-9C82-4E5B-9185-6A70E63B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953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06169-462D-4F55-95A3-4A9D669E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B8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12FB7-EF12-4B55-8845-BBB40DE8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1,588 objects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192AC-E90C-4C2E-BDBC-37ECA790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D5B8A"/>
                </a:solidFill>
                <a:latin typeface="Aptos"/>
                <a:ea typeface="Aptos"/>
                <a:cs typeface="Aptos"/>
              </a:defRPr>
            </a:pPr>
            <a:r>
              <a:t>R2 EVIDENCE GROWTH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F0D714-1E6F-413D-819B-E9294C64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455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83,662,976 bytes, about 79.8 MiB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659FE4-12BA-49B1-9605-AD2EE7D8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38500"/>
            <a:ext cx="4953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24B16-6309-45DB-8FD1-6BBF5F1D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385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24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04CCAC-BA66-4B48-AC72-40628448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9950"/>
            <a:ext cx="4552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Healthy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5AA227-151D-4520-8A59-062C6E2B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455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98C24"/>
                </a:solidFill>
                <a:latin typeface="Aptos"/>
                <a:ea typeface="Aptos"/>
                <a:cs typeface="Aptos"/>
              </a:defRPr>
            </a:pPr>
            <a:r>
              <a:t>INFRASTRUCTURE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A3236B-E24D-4B7F-B102-80964CF4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9550"/>
            <a:ext cx="4552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backend, Postgres, PgBouncer, Redis, AI service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1832C3-4540-4ED4-8409-67B602D1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B406FD-0099-4D56-BBA8-91FB8F32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2C5858-0900-470F-9165-93E4D4F5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Operating readout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67F426-F24E-44D7-8826-BA586605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The exam workload ran without server-side failure. Remaining issues are data quality and monitoring depth, not acute capacity collapse.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B0D53A-0DE6-47B6-89F7-D5DA7169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6730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E8B8E8-10AB-4C86-B3C3-3AF835F6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673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24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1B873E-988D-4C85-AD40-619FF42E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25780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8C24"/>
                </a:solidFill>
                <a:latin typeface="Aptos"/>
                <a:ea typeface="Aptos"/>
                <a:cs typeface="Aptos"/>
              </a:defRPr>
            </a:pPr>
            <a:r>
              <a:t>Boundary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5385B4-FE8F-472A-BEE4-048CE195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524500"/>
            <a:ext cx="457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Cloudflare SFU media bytes are not visible in backend logs. This report includes SFU broker/API health and requires Cloudflare analytics for exact media traffic.</a:t>
            </a:r>
          </a:p>
        </p:txBody>
      </p:sp>
    </p:spTree>
    <p:extLst>
      <p:ext uri="{BB962C8B-B14F-4D97-AF65-F5344CB8AC3E}">
        <p14:creationId xmlns:p14="http://schemas.microsoft.com/office/powerpoint/2010/main" val="15123682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C42FE0-23C0-43CE-9689-4B713B7C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BF94A-515A-4D6B-B8E6-9150065E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DA395-2E59-4A73-80B5-51401E1F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QJUDGE EXAM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7589B-B1A4-4A46-A7C5-14D8CF55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HTTP traffic stayed healthy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94E51-64B9-4080-8184-89C0BE42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C87FC-852B-4AEC-B249-F35230C8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Source: production logs, DB aggregation, Prometheus exporters, R2 object listing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33550F-AA08-4AAC-A43A-4AA97F8F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2047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2026-05-06 10:00-12:00 Asia/Taipei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D7BE3-AA94-4261-9B2E-5857981E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38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155,688 total requests in the fixed two-hour window; 5xx and 429 were both zero.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A9010-9863-4800-B3F4-E184E32E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9489586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9C8E2-B183-43D5-980B-8E681D0C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186" y="2133600"/>
            <a:ext cx="44761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06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85DB2-50D8-48FF-985B-A8145092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6804" y="2133600"/>
            <a:ext cx="15417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1B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FD389-7179-4125-ADA9-196DFC9B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2221" y="2133600"/>
            <a:ext cx="2409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24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ABF4A-FC73-4001-9F48-D0B19D55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311" y="2133600"/>
            <a:ext cx="15996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B2E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2DCF0-4994-4158-886A-994D1A96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2306" y="2133600"/>
            <a:ext cx="841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C3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4C8FB-A068-492B-8D21-42823940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722" y="2133600"/>
            <a:ext cx="128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505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EB089-CB3F-4F78-A376-538A7351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9680086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200  147,723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B04314-EC08-48B5-ADB2-3F45CCF1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Contest detail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F58092-8DD5-4629-9467-6D917345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200400"/>
            <a:ext cx="419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F39C56-E584-422E-B322-040D612B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200400"/>
            <a:ext cx="43815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E8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ECAFD-DD95-4A8D-9DC7-A2933100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527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51,256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3F016-8429-47E6-BEAA-702DD017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Exam events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C65735-EEB3-46A3-B9F0-D610B422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486150"/>
            <a:ext cx="419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94635E-272E-4068-A318-5273B960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486150"/>
            <a:ext cx="3046346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E8C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BAD3F6-A1FB-4847-9A95-13F8FF73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385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35,637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B2F047-09E9-465A-8AA7-2FBD08A4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Answer submit 200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A614B1-444C-4B7D-BB2B-C3CD5523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771900"/>
            <a:ext cx="419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6A3E0F-13BC-455D-B085-EACAC825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771900"/>
            <a:ext cx="2260247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E8C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D3BDED-6E2C-48F0-847B-43F7FF21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242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26,441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F66CD2-7E13-4206-A047-2E0E97BC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SFU heartbeat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15FFF5-4367-40AA-BBA7-55175B81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057650"/>
            <a:ext cx="419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DB0F2C-D62C-45EB-9E8B-95A4770B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057650"/>
            <a:ext cx="170905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E8C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E6012F-7C3A-4680-9149-D568E777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00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19,993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C5BBEC-DD93-445C-8B81-A958E620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Answer submit 201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B4386B-4CBE-4590-8D99-CD3B992B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343400"/>
            <a:ext cx="419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ECF626-9EA5-4AEA-9CB2-3BC0E2EE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343400"/>
            <a:ext cx="45519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E8C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747197-661D-4808-9AF9-A0D9F545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957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5,325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CA8869-C629-4E60-AC59-E15476B6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Evidence intents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33FB8C-9909-40C5-B2BB-A9075BC1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629150"/>
            <a:ext cx="419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B32647-AF73-4D72-85D4-9E4F5A1F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629150"/>
            <a:ext cx="118394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E8C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ABF853-730B-45CC-8ED7-9D13B132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815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1,385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9F762F-350D-41ED-AC91-BEAFE3AF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Evidence confirm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8FD9A0-0925-4430-8CA3-7B89D868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914900"/>
            <a:ext cx="419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EBD055-AA78-4BC3-9B3A-A2CDFDD3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914900"/>
            <a:ext cx="106169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E8C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0EDC45-A5B0-4B35-9C31-96CBFDBC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672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1,242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8C3A00-5764-4942-AF81-119BD3E2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Screenshots 200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F6BDF1-1EDF-4C0A-A216-90BB895F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200650"/>
            <a:ext cx="419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5EA0D4-02D3-43BC-BFD9-01D7195C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200650"/>
            <a:ext cx="160964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E8C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869D7B-8595-4333-8C6E-BD72C25A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530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1,883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A4E7EC-62CA-4E02-B249-958F3B44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2420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D64CD3-001F-4A73-B081-7EE9624B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004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Status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67316C-0E5A-49C6-B738-50970EE4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04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Count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590919-3B94-4917-9780-5B2AF412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004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Interpretation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CAE7FAC-78E4-46E3-A647-5ACA2D62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33BEE2-D9CB-4588-B93F-68F3F266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004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2xx/3xx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65B1E3-41EA-48C6-84EB-2A897473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154,931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59FA9D-20E4-4D7B-BA9F-BAE09C3E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004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Normal successful application traffic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A3AB41-C1C9-4AAD-87E3-00B1B7FC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9614B8-8FD4-4AA3-8410-63A564DE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4xx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742649-514D-403D-A496-6AC7994C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757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5C8B52-E6F9-4AFF-B837-6D283186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Expected auth, forbidden, invalid evidence query, stale session paths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537105-7BF3-49A3-A77B-7C3D56E4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2435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726D256-544B-4228-8BBA-1E57105D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005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5xx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6424028-AC12-4060-9257-D7D4BB61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005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290F2E1-BA63-4A48-9BFD-B79BF7CE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005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No server-side request failure observed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F0B8086-BAE9-49F8-A75A-A33D1799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2440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B689822-A886-4150-9D80-F8306619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006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429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8F7A970-9D6B-4505-8106-B4165239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006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39B501F-66E0-4459-BFCC-68A79788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006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No rate-limit saturation observed</a:t>
            </a:r>
          </a:p>
        </p:txBody>
      </p:sp>
    </p:spTree>
    <p:extLst>
      <p:ext uri="{BB962C8B-B14F-4D97-AF65-F5344CB8AC3E}">
        <p14:creationId xmlns:p14="http://schemas.microsoft.com/office/powerpoint/2010/main" val="123413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E3026C-C5D5-4668-90A5-AE5E2C2A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C969C-2E07-4FA1-AFD7-BCB29F25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4D8FE-881D-433D-89B0-C52B3CE8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QJUDGE EXAM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FEFD9-5CCC-4FF2-81D5-744F3234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Exam participation and answer writes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9B1E6-F3CC-4F16-AB3B-ECF484DC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27B19-33AD-4747-9573-7E85263D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Source: production logs, DB aggregation, Prometheus exporters, R2 object listing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6D997-6596-4F60-9E75-A053C2E2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2047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2026-05-06 10:00-12:00 Asia/Taipei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42A04-255B-4F72-82DC-D3DCD491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E99B3-68E1-4CEA-9773-6F018C70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B8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97797B-2426-44A3-BEAE-B85E6009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134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149C7-0221-4814-B010-59382404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D5B8A"/>
                </a:solidFill>
                <a:latin typeface="Aptos"/>
                <a:ea typeface="Aptos"/>
                <a:cs typeface="Aptos"/>
              </a:defRPr>
            </a:pPr>
            <a:r>
              <a:t>REGISTERED PARTICIPANTS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93202-788B-4A73-9BE8-AC2E900E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121 started in the 10:00-12:00 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95552-0FB5-4629-8CF5-5D252AC6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954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C54F7-702D-422F-8EBE-29A8BA74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954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65AA0-9B2B-4F6A-9891-DFB179C2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669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121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A9ED1-CAA3-4EBB-9920-C6DF16B3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47900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SUBMITTED STATUS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A0965-B052-4F44-B14C-38E3E107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No participants were locked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52662-C20C-4034-8054-434F6040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954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4C0CC3-FAD9-4312-A9A2-2C9D5F3C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954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E8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369615-885D-4D16-9FFE-F4E7411D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669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5,332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8B6CDB-EEF3-4CA5-98AE-B0D68ADE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47900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B7E8C"/>
                </a:solidFill>
                <a:latin typeface="Aptos"/>
                <a:ea typeface="Aptos"/>
                <a:cs typeface="Aptos"/>
              </a:defRPr>
            </a:pPr>
            <a:r>
              <a:t>ANSWER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49EF6-DD75-4848-814E-6F5D98C0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5,325 created, 5,317 updated in window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189773-B897-4A9A-84BC-6A85430B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7BC515-E471-478C-9FE8-8635D0B7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24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36E491-6DB9-46FB-B1C9-7485441A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DF44ED-4BBC-499B-ABBB-E058B170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47900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98C24"/>
                </a:solidFill>
                <a:latin typeface="Aptos"/>
                <a:ea typeface="Aptos"/>
                <a:cs typeface="Aptos"/>
              </a:defRPr>
            </a:pPr>
            <a:r>
              <a:t>VIOLATION COUNT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E3FF69-AC8C-4329-BEFF-97E01D18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Max per user: 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98746F-D2EC-4001-9BC2-EE08D3EE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671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0 violations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08E457-6B03-4B8E-B47E-3E034606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695700"/>
            <a:ext cx="18097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CD8CEC-5515-47AC-BFBA-7923FF83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695700"/>
            <a:ext cx="20002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8A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597A1B-282D-4F2C-AF3B-D61B5596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480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122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8430EB-DFA4-4458-93E3-729E32FD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338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1 violations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F89EB9-58CE-4629-8E23-ECA1EAA6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962400"/>
            <a:ext cx="18097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8503F4-A9C1-4E1D-9C8D-9839D86C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962400"/>
            <a:ext cx="131164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8A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297A26-DD02-412B-8968-E825ED21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147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FED058-C2F9-4924-89E5-9520877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2 violations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7FFBB1-3445-4427-B2DF-EFC07382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29100"/>
            <a:ext cx="18097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68D53A-B3E0-4760-8A4A-9A2CF0E4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229100"/>
            <a:ext cx="190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8A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10D2D5-9648-490A-9533-EC2744DF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814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9BBEB9-89E8-4125-866A-403D13DD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72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3 violations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34069A-4561-49F6-A7D7-08432175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495800"/>
            <a:ext cx="18097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7258D1-AC84-4812-86C0-90504A51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495800"/>
            <a:ext cx="190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8A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630FFD-CC7E-40A2-9D60-D224BFFF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481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1DF65B-6A97-4565-B534-09380324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339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5 violations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EE9EAB-C3D3-4786-8ECF-18169E1B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762500"/>
            <a:ext cx="18097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66371A-CC9C-4CCF-AAB4-C802E9B3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762500"/>
            <a:ext cx="190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8A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07AF7A-A8C5-4176-9DDF-D0507329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148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4ABA2A-4550-4A33-A52E-DB706E04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7 violations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67D6B6-BFAD-4F43-9541-26314013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029200"/>
            <a:ext cx="18097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8209489-7B87-460A-8AFD-64F8DCC5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029200"/>
            <a:ext cx="190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8A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F70821-6613-4014-BCB6-9E972EFD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815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9E730A-106B-4317-866B-51362D61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C6E900-B02F-427F-9080-31FF6A05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Submit reason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C6B5874-D04C-4E14-9CC2-BA2C102A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719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Count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CD5FD7-8011-4F55-9E32-6AC52EB3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A8908C-C870-4A35-B22A-97D6CAF2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719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Submitted exam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0B1D0A-0195-4B18-B925-AEA2B2A0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7195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119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0487F8-CB8E-4E16-9D08-13EAD1BA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958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8656658-A8FC-4802-BF65-8C240885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720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Auto-submitted: contest ended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C2C0AD-980C-4EA0-9CA2-85E504A2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720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C9308D-8372-4FB6-AD72-FB230B1F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95850"/>
            <a:ext cx="4095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87D1E57-4A09-465D-84F2-8C8062E8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95850"/>
            <a:ext cx="409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24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F885E7-6A57-4D3B-9BD6-901CD59A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863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8C24"/>
                </a:solidFill>
                <a:latin typeface="Aptos"/>
                <a:ea typeface="Aptos"/>
                <a:cs typeface="Aptos"/>
              </a:defRPr>
            </a:pPr>
            <a:r>
              <a:t>Data note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B28FA02-D4AD-4026-9112-AB28DC10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530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exam_status is submitted for 121 participants, but submitted_at is empty. Treat this as a post-exam data consistency fix, not a live capacity incident.</a:t>
            </a:r>
          </a:p>
        </p:txBody>
      </p:sp>
    </p:spTree>
    <p:extLst>
      <p:ext uri="{BB962C8B-B14F-4D97-AF65-F5344CB8AC3E}">
        <p14:creationId xmlns:p14="http://schemas.microsoft.com/office/powerpoint/2010/main" val="5767167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E25C2A-C328-4122-884D-12036CD8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81130-F00C-4118-95E3-4D21A2FA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2066F-DB6F-44A2-BC21-4958F5C0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QJUDGE EXAM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ED1EA-CB23-42A7-AABD-7A8E4599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Anti-cheat events were dominated by audit-style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C77BB-7CA1-46A7-AF82-0B19EFA2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B06075-BFA7-44F2-8AC7-2B663A08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Source: production logs, DB aggregation, Prometheus exporters, R2 object listing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E2C5B-4104-4548-985C-017B3E8B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2047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2026-05-06 10:00-12:00 Asia/Taipei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AF041-6A48-4CE2-8031-3040CAE3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1,806 events were recorded for Exam 2. The largest categories were clipboard actions, pointer escape triggers, exam entry, and forced other-device logout.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6F8A0-D9B6-4A53-9137-7099907A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clipboard_action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BEBE7-DA78-4635-8D64-E6A33D8B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286000"/>
            <a:ext cx="419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BC57A-AF30-41FD-A9D0-273A1B37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286000"/>
            <a:ext cx="43815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8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AA8655-F13D-47F2-9746-9BD2C5DC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383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960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A654E-9A2C-490F-9413-00EEABE4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mouse_leave_triggered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1FC131-166F-4A62-B241-7E4B493C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581275"/>
            <a:ext cx="419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AA135-8D4B-47BB-9137-9F71B12D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581275"/>
            <a:ext cx="194885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8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2B436-70BB-4161-ACA7-5237FB1D8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336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427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7063E-FDFF-4EA7-A492-7B26A3FB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exam_entered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3B51F-3413-4684-B331-786D28DF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876550"/>
            <a:ext cx="419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94197-98DE-4541-B4D9-FA2F06B3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876550"/>
            <a:ext cx="588764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8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B06D5-F3AE-4BDC-8E66-F737F37F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289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129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3C99E1-2E3D-4D6C-AD94-E2C515E7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other_devices_logged_out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7EF3E4-513A-4840-ADC4-42C3AC0C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171825"/>
            <a:ext cx="419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B7477A-1B4A-4232-A8D1-3C76A28C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171825"/>
            <a:ext cx="543123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8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B1FC6-C848-4908-AA5B-B8B6F6B1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242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119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F2294B-17F7-4695-921F-477DD764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exam_submit_initiated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26A33D-F58C-4864-8B7D-96A89995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467100"/>
            <a:ext cx="419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F47293-9AD8-47FE-B546-B84407C0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467100"/>
            <a:ext cx="529431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8A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1D5B0D-29B6-4A59-B85E-8FE72FB3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194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116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792B41-9370-45C0-A694-D83E85D5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mouse_leave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BBFD9A-50BA-4360-A940-D19C4E0C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762375"/>
            <a:ext cx="419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A719E4-994A-4ABE-A10A-C7225FA5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762375"/>
            <a:ext cx="91281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8A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DB4D68-9BA0-40AB-902C-340982C6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147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A10C27-B676-4953-AAB5-0F33CA34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screen_share_interrupted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CB987B-5C75-4B7B-9E94-148EA38E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057650"/>
            <a:ext cx="419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3CEF90-8D32-4CC7-88EE-36982788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057650"/>
            <a:ext cx="5020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8A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925077-7A83-4CB9-BCA5-EF1137C0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100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9DFE84-7590-4CBB-B0D0-3AABA8E3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screen_share_restored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1C2D81-6176-4440-9DB6-B5E1C7F6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352925"/>
            <a:ext cx="419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4E06FE-3848-4E59-962A-09A2E62A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352925"/>
            <a:ext cx="45641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8A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C40150-43AA-4FAB-BD0B-8E99BF2B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053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A7693B-C504-46B6-AA7F-438B730F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exit_fullscreen_triggered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1C1C5D-28EC-4C01-B1F9-0A1CF8E4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648200"/>
            <a:ext cx="419100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FF2A68-9050-4E03-B21F-567A9B24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648200"/>
            <a:ext cx="31948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8A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214C69-7259-46E1-9246-63896EC4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005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BEC718-D16A-4E7C-AFF6-F3DA6F7C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479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9CA8B4-49B1-4214-B45F-60CDED8C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Rare event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CFF3EB-2A61-48AB-B52A-34DAB05C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324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Count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CD5C04-2CC1-4022-A1CB-961D610A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098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1FBD62-2A42-4520-B2E6-FE094485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exit_fullscreen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F72C88-DBE9-4B6C-A6F9-E5A599A8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860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518C8D-5EF1-461A-84AD-7AC4931D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974175-B51F-4867-B0FB-D88F5160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heartbeat_timeout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328FF7-4B18-41C4-BD1F-7A5843FD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480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C236AA-505D-455E-9F89-4DFE0EC6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DFD7107-C12D-4F1D-9E97-0B5042AD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9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manual_proctor_note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DCF80D-217D-4D4E-8975-2918FDA1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099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A40D11D-B8C4-4A2C-B5DC-8CE5E63A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957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99D1CD7-C486-4AC1-BA55-F4C639F7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719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screen_share_stopped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FD828C-E10F-40D0-90B8-55560D60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719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FEB3F2A-9599-4C66-90D0-38E22375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2B26E0-E694-42C2-A102-ED9FDFAD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E8C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8D72E6-E388-4453-A263-FB63727E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E8C"/>
                </a:solidFill>
                <a:latin typeface="Aptos"/>
                <a:ea typeface="Aptos"/>
                <a:cs typeface="Aptos"/>
              </a:defRPr>
            </a:pPr>
            <a:r>
              <a:t>Interpretation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965B76C-619D-4FDA-AC05-1BFE1DF6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The event profile shows the system was actively collecting signals. The operational risk is evidence lookup completeness, not event ingestion throughput.</a:t>
            </a:r>
          </a:p>
        </p:txBody>
      </p:sp>
    </p:spTree>
    <p:extLst>
      <p:ext uri="{BB962C8B-B14F-4D97-AF65-F5344CB8AC3E}">
        <p14:creationId xmlns:p14="http://schemas.microsoft.com/office/powerpoint/2010/main" val="21372148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8EB131-B3EE-4F1B-B56C-6F602F7D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D71C5-A5D2-4171-A747-F388C3D5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75926-5F40-4778-9162-A8A89F1B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QJUDGE EXAM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F0DA7-909A-4A88-B2BD-1F80D63F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Evidence manifest and R2 storage both 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74A1D-2D60-421A-8952-68E167F6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133C9-F8D6-414C-AD49-CCE38508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Source: production logs, DB aggregation, Prometheus exporters, R2 object listing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BCF2B-F385-41DF-9327-7FA57959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2047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2026-05-06 10:00-12:00 Asia/Taipei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2049F-384F-4E39-A4D0-C840E9C6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90B62-2FF8-4BFF-B920-4272305F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B8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ED696-5B46-4AEB-BCEB-D2D1A0D7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2,010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2C746-12B2-4BB4-9D79-0C22ED72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D5B8A"/>
                </a:solidFill>
                <a:latin typeface="Aptos"/>
                <a:ea typeface="Aptos"/>
                <a:cs typeface="Aptos"/>
              </a:defRPr>
            </a:pPr>
            <a:r>
              <a:t>MANIFEST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12ECFF-E3FE-4234-9928-446C2955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server-issued evidence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E2907-DB6C-4E60-9900-5F00912F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954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E0E26-2CCA-4FF8-91F6-4AA0E878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954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C8F3A-83E5-45D1-AF6E-33691B5E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669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1,867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ADC1A-5110-4A28-89A2-6EDA96AE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47900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UPLOADED FRAMES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F47F7F-96B5-40ED-9F7F-08859136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92.9 MiB DB-confirmed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F7FB1-0F8D-4466-A7B0-67E195AC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954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BA044-A5EE-4BBA-AB96-569E420F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954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24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B2071-EDD5-408D-A9A7-814C6CE0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669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143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A8263-CB16-47B0-AD6A-3F1D505A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47900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98C24"/>
                </a:solidFill>
                <a:latin typeface="Aptos"/>
                <a:ea typeface="Aptos"/>
                <a:cs typeface="Aptos"/>
              </a:defRPr>
            </a:pPr>
            <a:r>
              <a:t>UNAVAILABLE ROWS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BA67F8-8038-4D0B-AD85-3AF9CA65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142 anchor_window, 1 pre_loss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D7BA3D-5EF0-46F7-8B33-0775A60C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75D95A-CFC0-454A-8A7C-FC7128B7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E8C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EBFAFD-5381-48E9-8C95-192E8659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1,588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8D3D76-B82A-452C-8AB2-48984720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47900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B7E8C"/>
                </a:solidFill>
                <a:latin typeface="Aptos"/>
                <a:ea typeface="Aptos"/>
                <a:cs typeface="Aptos"/>
              </a:defRPr>
            </a:pPr>
            <a:r>
              <a:t>R2 OBJECTS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3BC6B9-33F4-4188-A2CF-9D66C9D3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79.8 MiB actual bucket growth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7A900F-50D2-4421-BB8B-3B58C374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876ACA-81AC-463C-BC17-CAAC9315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Evidence path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1F3143-201F-470F-ADB4-5636D816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147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Count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A5CA0F-1D9B-4A10-BC3B-272D813B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Bytes / note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BE9607-3E17-49B3-9AF5-FE45E3D5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9344E1-EDD0-4557-89DB-004F064A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1480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uploaded / anchor_window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A26CD1-BD3A-4E62-AE9E-234C6CDF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148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1,867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EF6830-202B-430D-A22D-C3A593AB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148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92.9 MiB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CD22FD-355E-4B73-9CE7-95F58E13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75A620-C097-4942-AB42-99B9AE02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unavailable / anchor_window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424EF0-C018-44A2-87F9-48BFE58C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148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142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48DFD9-CF1D-4CBB-B476-E6129508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5148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No frames available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2385ED-9ABC-4DC0-B8F6-49434E59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3A126D-F139-41DF-9CA8-9CAE11A9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unavailable / pre_loss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B24A1C-EAAF-48C6-A4E4-3E02DF47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9149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865514-97AC-4042-A222-2B4FFA9A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1490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Stream-loss edge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EE0C4F-F63D-4423-AFF1-FEF33E2C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7B5DCD-200B-48B9-8E79-5F9CEFD5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149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R2 object listing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7E5999-A560-4F7A-87BB-6ECF5F6A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3149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1,588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F3C47D-9F4B-4380-9F26-E90FFCEE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314950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79.8 MiB; 10:10:19-11:59:51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C27695-5B9C-4B2B-ABE6-CC5F4C18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52850"/>
            <a:ext cx="2571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ECB64D-438C-46AB-9F10-68061905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52850"/>
            <a:ext cx="2571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24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CAC808-FF18-4E19-B1C5-C3E38509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433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8C24"/>
                </a:solidFill>
                <a:latin typeface="Aptos"/>
                <a:ea typeface="Aptos"/>
                <a:cs typeface="Aptos"/>
              </a:defRPr>
            </a:pPr>
            <a:r>
              <a:t>Boundary condition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2157CC-F93E-4790-B18C-9ED0AD7B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100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Manifest timestamps and R2 LastModified are not the same clock. Minor differences at the time-window boundary are expected.</a:t>
            </a:r>
          </a:p>
        </p:txBody>
      </p:sp>
    </p:spTree>
    <p:extLst>
      <p:ext uri="{BB962C8B-B14F-4D97-AF65-F5344CB8AC3E}">
        <p14:creationId xmlns:p14="http://schemas.microsoft.com/office/powerpoint/2010/main" val="7915762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D313E2-3AA7-4888-A8C4-83497E93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06D59-F2F0-46D3-A411-7CA165DA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3E798-35E6-4F16-ABDA-B434B01F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QJUDGE EXAM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79D0B-B360-4F5F-9119-0840B71C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SFU broker was healthy; media bytes need Cloudflare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C3243-B7AE-44F5-823F-6DF095E9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CAA13-FC39-417B-BDD4-5BC27BE2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Source: production logs, DB aggregation, Prometheus exporters, R2 object listing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BF551-31F4-44E3-BCD9-C9BC58A7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2047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2026-05-06 10:00-12:00 Asia/Taipei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8056D-F045-4D6F-9D25-94C6531C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heartbeat 200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6E2A3-CE31-4AFD-A7B0-5D1D4E9B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866900"/>
            <a:ext cx="39052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D66C5-4081-4C67-AE88-7433E5DC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866900"/>
            <a:ext cx="40957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E8C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FA26E-3D70-4B5B-A66A-438CB266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192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19,993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376B2-E70D-49A9-BFCA-BEAFCC01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stop 200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339E5-9E42-4079-B9E4-DF06A425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162175"/>
            <a:ext cx="39052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64BDB-10DB-42AE-A659-1E1B956F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162175"/>
            <a:ext cx="241324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E8C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68916-7832-42C6-AE14-F6F4E8CF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1,178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CF4219-9E8B-4877-BE64-1C8B14DB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sessions 201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016A2-5B12-4387-A03D-A7D7B71A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457450"/>
            <a:ext cx="39052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255A8F-93B6-45E1-A79B-065BA0A5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457450"/>
            <a:ext cx="5101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E8C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36F00-302C-411C-9703-62628FD5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098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249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38C41-4F95-4FDC-98A3-B7070C36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config 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A7F8AA-F7D8-41C0-BA90-B74B7D60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52725"/>
            <a:ext cx="39052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C58F8-BBBD-4206-825A-C95EC01A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52725"/>
            <a:ext cx="5101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E8C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AFBB12-5237-471F-B0CF-1ACC7694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051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249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EF4F7F-C606-4F3E-A787-908D41A0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tracks/new 200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EBE72F-DB72-435E-8D60-15CFDC7D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048000"/>
            <a:ext cx="39052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5EC8EB-76FD-4795-B8FD-E60F6304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048000"/>
            <a:ext cx="5101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E8C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C44D7C-900F-4181-9939-E8FD6A47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037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249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D40E50-D98E-4F25-A1BB-AB77246B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renegotiate 200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EFA704-2367-4762-ACA2-859CC5D8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343275"/>
            <a:ext cx="39052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E40980-E482-4EE9-A8BF-51CB809C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343275"/>
            <a:ext cx="20486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E8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BC4940-62C8-4AA2-9C33-3D203B7F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956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20163A-B8F3-4D2F-9B7A-6E5078D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old mock heartbeat 400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324270-F776-487C-8291-69E53289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638550"/>
            <a:ext cx="39052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94B0AE-2D00-4486-B65A-0DE164A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638550"/>
            <a:ext cx="58999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E8C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B1FD13-49CD-40B3-A78A-18E7AD79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90925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288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30CB69-8642-48EF-944D-59AF10CD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stop 401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078D83-A367-4AC8-ACD9-1BE2F1BE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933825"/>
            <a:ext cx="39052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1F5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A50C86-7BDF-4EAD-BAFD-E63B77CF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933825"/>
            <a:ext cx="190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7E8C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FDB349-E5AC-47BB-8819-35005FCD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862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750207-17FE-4CF6-B080-A97B4B09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6CDD8D-D085-4467-8C55-C46B6345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66D1DA-B539-42AD-816F-BF02E154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What this proves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48ED99-2664-4EAC-A0A7-D3C36B4B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276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Backend SFU broker endpoints accepted sessions, track creation, renegotiation, and heartbeat traffic without 5xx.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C5E6F4-92E6-4E48-B279-062388CE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31432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E8ABBF-D51D-4D0A-BA2E-AB0BB4D7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24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605BD5-D49C-4E1E-85C3-9A9A770E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956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8C24"/>
                </a:solidFill>
                <a:latin typeface="Aptos"/>
                <a:ea typeface="Aptos"/>
                <a:cs typeface="Aptos"/>
              </a:defRPr>
            </a:pPr>
            <a:r>
              <a:t>What it does not prove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7642C2-0EAE-4C36-A870-C8756609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62350"/>
            <a:ext cx="276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Cloudflare SFU media ingress/egress bytes are not proxied through QJudge backend. Exact traffic must come from Cloudflare Realtime/SFU analytics.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61BE30-DD57-4501-B366-D20FB5F2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3143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4437D6-8FA8-4E13-9751-CC77A888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B8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CA4F0D5-A2B1-4752-A151-F4391AAC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3870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D5B8A"/>
                </a:solidFill>
                <a:latin typeface="Aptos"/>
                <a:ea typeface="Aptos"/>
                <a:cs typeface="Aptos"/>
              </a:defRPr>
            </a:pPr>
            <a:r>
              <a:t>Observed cleanup issue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256700-FD95-48A9-AEF7-E0989EC9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05400"/>
            <a:ext cx="276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288 heartbeat 400s came from an old mock exam contest. This is stale session state, not a live Exam 2 outage.</a:t>
            </a:r>
          </a:p>
        </p:txBody>
      </p:sp>
    </p:spTree>
    <p:extLst>
      <p:ext uri="{BB962C8B-B14F-4D97-AF65-F5344CB8AC3E}">
        <p14:creationId xmlns:p14="http://schemas.microsoft.com/office/powerpoint/2010/main" val="1761233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EBC6F1-BE72-44C3-B136-AFB6995E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DD44F-7AE8-4D87-9732-4DFF73D3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BB881-53E3-4878-B57A-573F0B7E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QJUDGE EXAM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CD898-8442-4DD0-ADBD-4D86C5F9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Infrastructure headroom remained adequate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7AF61-6D17-4E4F-BACA-A4D46802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8F746-20BC-4CC1-86BE-3525D7EC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Source: production logs, DB aggregation, Prometheus exporters, R2 object listing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23AAC-D726-4655-8EFD-639511E6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2047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2026-05-06 10:00-12:00 Asia/Taipei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08A62-9FF0-45E1-A7AA-A996EB17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65D21-DDBC-43AE-A5EA-D0E0669A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B8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0848D-B0CF-4F6F-B35E-9288D96D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12 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90C04-32BD-4FCA-ADAE-6B58AB96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D5B8A"/>
                </a:solidFill>
                <a:latin typeface="Aptos"/>
                <a:ea typeface="Aptos"/>
                <a:cs typeface="Aptos"/>
              </a:defRPr>
            </a:pPr>
            <a:r>
              <a:t>HOST CPU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CF2F9-2B90-40E1-BDEB-7D3B68F9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Backend max 1.08 cores; Postgres max 0.93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37E7C4-1234-441A-AA99-FE1E190C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954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32486-FFAE-455F-A23E-9F70CD3E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954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DA2D7-3402-4B8B-B9C5-4A368D12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669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23 GiB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F93AC-88CD-4305-B9A1-08C1C4CE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47900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HOST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B7A4E-DCE1-4D9B-B7D2-1BDDD8DE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Current available memory about 15 GiB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2D916-C5E0-4C8C-8D30-4EE20ACD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954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D28EA-530C-46D0-B1A5-A72B9DED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954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E8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86F63-A34B-4E57-B296-1A08ADF6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669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38%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4C9E24-5614-4C87-A91F-6D7046EE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47900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B7E8C"/>
                </a:solidFill>
                <a:latin typeface="Aptos"/>
                <a:ea typeface="Aptos"/>
                <a:cs typeface="Aptos"/>
              </a:defRPr>
            </a:pPr>
            <a:r>
              <a:t>DISK USAGE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CE96BC-8A02-473B-9E0C-6D003BA3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Root volume usage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944D18-B073-499A-8802-69E13EEE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DDE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CCDE9F-3C24-4F24-8E5C-F3B47AC2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24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B5F798-D683-4922-A621-8B736C77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1981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52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83EA0E-7AD3-4603-B9A8-0E51CAED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47900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D98C24"/>
                </a:solidFill>
                <a:latin typeface="Aptos"/>
                <a:ea typeface="Aptos"/>
                <a:cs typeface="Aptos"/>
              </a:defRPr>
            </a:pPr>
            <a:r>
              <a:t>DB BACKENDS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2220ED-C657-46C2-B9AE-6296F06A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1981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Max online_judge connections observed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93C136-9B88-4D71-8B04-B0E284DA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07B4E4-EB4E-45FE-A221-40DBC86F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Container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305F1C-D359-4701-911E-BFC6C006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9570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Avg CPU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252E2F-AB92-4300-AE58-04D1B707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69570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Max CPU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19A355-FCC2-4564-B5D4-E67B0FE0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9570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Avg Mem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2B4FBA-BCD8-48EC-B032-F46FABC3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69570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Max Mem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286C23-DF6E-4111-8447-76D88FC3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145C89-616D-4C1B-9D8E-203751C2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backend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94AA18-DBB5-481A-A163-62C4A7E3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1955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0.52 cores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2B9629-B952-4FFA-99B6-F0ECFC73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01955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1.08 cores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C8D0B3-5B1D-445A-AFB7-95878CB2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1955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1.21 GiB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1FF01B-932C-4322-B66F-4C0198D1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01955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1.82 GiB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61DF76-99C9-424A-BA20-A62DB718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CFE400-186B-4DCF-A0F2-4089F4CE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postgres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B302B2-1F05-4072-A2E3-CA4A8236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4340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0.16 cores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FB7134-FF90-4C73-B0F6-7FD1AF3D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34340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0.93 cores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ABC4F0-C458-4D6C-9723-C85CD71E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4340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434 MiB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93904B-497B-4FC9-A7B4-BA33B243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34340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534 MiB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AF46B2-635D-4C82-A458-6C89696A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CA56FE-388B-4D10-9506-4E2F624B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pgbouncer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CE500A-3950-4C0C-A27A-1F71F454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6725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0.03 cores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A9E762-67BD-4FAD-B54B-1B72898F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66725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0.2 cores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2C7387-FEA2-4D00-B11F-0A9436CF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6725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4.1 MiB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DF95CC-1A41-4CEE-BA9B-F5597673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66725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5.0 MiB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271C5D-58B7-4019-B7E4-78A8AD2F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4C8BD7D-1BA4-47B2-83D1-C0F83324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redis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B29BF6-85DF-4B63-AC24-CBF3E7DA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9110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0.01 cores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B13DCB-9474-41E4-93F4-CCCAADF3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99110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0.02 cores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489EAB7-0FF3-43F1-B57A-554D3CA0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9110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21 MiB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28EFE9-564E-47C5-B67A-05D63B18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99110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23 MiB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48C591-95F1-41E3-AC90-B46EF187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5D53772-AA07-4BC5-9FC6-2824570D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celery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AD9339-93CE-4734-A0A9-BE53245D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1495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0.02 cores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250C306-17D6-409B-B08F-BB29A376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31495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0.33 cores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A22D404-ABA5-4B1F-B2AB-5DC539CE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31495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321 MiB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A7C06EE-5E5F-490C-8036-B94AC648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31495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322 MiB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AA91A8-9515-4C4D-B41B-CD2376BC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21BA901-31ED-40AF-8147-F1439138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cloudflared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A153FD-5E82-4C94-AF21-D737AB67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63880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0.02 cores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55F124C-1152-4AD0-9C00-737D58C2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63880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0.05 cores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13D66CF-59FF-46F5-AFCD-5C367932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63880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55 MiB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6DD3B6D-6283-4D0F-B6F5-A6430D7C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5638800"/>
            <a:ext cx="1190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63 MiB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A264F48-E37B-453A-BAEC-46625C1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E486FF-48E3-4F5A-A5C0-E344941B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2476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FAA7ABE-BD16-4C5A-AFA6-288ADC47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814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Data plane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CF4D048-5894-41AF-8C6C-36620D8C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481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Postgres deadlocks: 0; Redis rejected connections: 0; Redis evicted keys: 0.</a:t>
            </a:r>
          </a:p>
        </p:txBody>
      </p:sp>
    </p:spTree>
    <p:extLst>
      <p:ext uri="{BB962C8B-B14F-4D97-AF65-F5344CB8AC3E}">
        <p14:creationId xmlns:p14="http://schemas.microsoft.com/office/powerpoint/2010/main" val="15515044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FC1103-4F39-46BA-8310-7F74E3BD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2579E-DCE6-48CB-B924-D424638A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BBE4B-32BB-4593-99BF-31E05468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QJUDGE EXAM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7AEC2-E66C-41F7-A96E-5CF1581D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Issues were non-fatal, but should be fixed before the next exam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7861C-6703-4CEB-B8AF-8BB610AA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14D9E-EFD5-4F77-A004-FCD8E456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Source: production logs, DB aggregation, Prometheus exporters, R2 object listing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2077C-879C-4D15-99FD-088DB174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2047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2026-05-06 10:00-12:00 Asia/Taipei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AFFFC-60D9-4F1E-B612-C9D7E311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904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E5CDA-44F3-438B-A454-A89A1F23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FBE04-B22F-4676-AAB3-8E19ACF4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24050"/>
            <a:ext cx="638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BBE94-A5ED-4717-B240-DE0122AA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904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1D9A7-AB2C-4420-BA27-F0EEAC45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submitted_at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8D2CB-BF7D-47C8-B9B9-96687966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19350"/>
            <a:ext cx="638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exam_status=submitted is present, but submitted_at is empty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A5735-8B5C-4C43-8AE8-57A27A84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38450"/>
            <a:ext cx="904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64657-044D-49C6-849F-D881D2F0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token blacklist duplicate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CC678-3BE1-41C1-877B-88A369F1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14650"/>
            <a:ext cx="638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86 duplicate-key DB log entries, likely logout concurrency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3480E-C1F6-45EC-BFB1-4276700D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904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D8A62-C325-4E58-AECE-232F1561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answer upsert 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82CFE6-CDC5-4433-8662-C237BFB9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09950"/>
            <a:ext cx="638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23 duplicate-key DB log entries; no backend 5xx observed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E5AEF-A13A-49CE-8871-C6CECABB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29050"/>
            <a:ext cx="904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C9A790-CE12-4CBC-90E1-E8DE82A3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screenshots 400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4DAEE-408F-4817-AC3F-4A495AFE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05250"/>
            <a:ext cx="638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78 manifest/window lookup misses in admin evidence queries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D12380-DF11-4EBA-AEB9-30FB968C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904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A64F5A-9C98-4713-BF88-B7CC705A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stale mock SFU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499D05-B665-4ED8-B2EE-5FC5AA4C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00550"/>
            <a:ext cx="638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288 old mock heartbeat 400 responses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C00E9F-C83C-4170-BBD4-1FF3A18F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4953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07A910-26BD-43CA-A6F4-F413F729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C24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3E77C-3E55-497D-9494-9EEF160F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8C24"/>
                </a:solidFill>
                <a:latin typeface="Aptos"/>
                <a:ea typeface="Aptos"/>
                <a:cs typeface="Aptos"/>
              </a:defRPr>
            </a:pPr>
            <a:r>
              <a:t>Severity read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6D7470-9959-4EBB-8CDA-CE460D1F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00700"/>
            <a:ext cx="457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No issue in this list produced backend 5xx during the exam window. They are still worth fixing because they degrade evidence trust, data consistency, or log signal quality.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F50165-BA28-44B7-A88D-FC9A14B4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4095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41D64A-1A81-4DDB-9E6C-F81C72AA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0"/>
            <a:ext cx="409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B8A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6A5571-CD40-4DDA-A358-5A60FD85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340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D5B8A"/>
                </a:solidFill>
                <a:latin typeface="Aptos"/>
                <a:ea typeface="Aptos"/>
                <a:cs typeface="Aptos"/>
              </a:defRPr>
            </a:pPr>
            <a:r>
              <a:t>Operational stance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7162A1-1C2B-4930-BF3D-40E4108C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0070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The system held the live workload. The next maturity step is reducing ambiguity in the evidence and submission records.</a:t>
            </a:r>
          </a:p>
        </p:txBody>
      </p:sp>
    </p:spTree>
    <p:extLst>
      <p:ext uri="{BB962C8B-B14F-4D97-AF65-F5344CB8AC3E}">
        <p14:creationId xmlns:p14="http://schemas.microsoft.com/office/powerpoint/2010/main" val="19120582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DCA67F-D66E-46B2-9B2B-C1E30AAD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E52B6-FCD3-479F-9C4E-F52A0A3E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29AB5-0FAB-44CB-8BC2-74DC1E83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QJUDGE EXAM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D434C-B918-42AD-9E9C-F1845874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Post-exam improvement backlog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A81B1-771F-4FC9-8805-D7AE0E8C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D292D-F921-4326-A4D6-C84D7578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Source: production logs, DB aggregation, Prometheus exporters, R2 object listing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86E1F-18A1-43E2-81A2-00C0F38E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34150"/>
            <a:ext cx="2047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7B8794"/>
                </a:solidFill>
                <a:latin typeface="Aptos"/>
                <a:ea typeface="Aptos"/>
                <a:cs typeface="Aptos"/>
              </a:defRPr>
            </a:pPr>
            <a:r>
              <a:t>2026-05-06 10:00-12:00 Asia/Taipei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BE447-16E8-4DC1-8366-4582CE39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8524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E6AFB-05FB-40EA-A307-5E03879E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240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Priority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47C56-0A93-4219-B2BD-D4951EF3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24050"/>
            <a:ext cx="733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40D663-80EE-46B8-9F85-5B72DDDC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8524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644D2-3594-4662-90D8-92B95714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4EE48-CE17-471F-AE7E-4ECF8CAA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81250"/>
            <a:ext cx="733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Persist submitted_at when exam_status becomes submitted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06F90-D546-4040-B14B-1E843D82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8524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5E11F5-011E-4FEE-80FE-D4BFBF84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89383-D93B-4B2C-B8DA-04C59571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38450"/>
            <a:ext cx="733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Make exam answer save path use deterministic upsert / retry semantics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FEE78F-64A9-4A47-AB75-6AE826C9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8524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CB50B6-A8C5-4478-B91B-60AA4774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1E074-DDE2-4EC4-8F90-95B35F57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95650"/>
            <a:ext cx="733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Make token blacklist idempotent under concurrent logout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32CFD-3DE1-4182-BCCC-D309FB78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8524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D5DFE-DB17-44B3-999E-2727B0F6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19263F-0199-4702-8BEA-606CCC93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52850"/>
            <a:ext cx="733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Improve evidence screenshot query error taxonomy and admin UI fallback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3928F8-6E03-48A7-93D5-24F5CF5C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8524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10AD3E-FD89-4D8E-BF93-D946E76C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51136B-1256-4703-98FE-A22A317D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10050"/>
            <a:ext cx="733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Expire stale SFU publisher sessions for old contests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8184E4-E4B9-45E0-83A2-C8CF2BA6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8524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8E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F0B56E-FEAC-4889-99CD-560125B9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809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t>P3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550D12-DE0D-4731-8B6E-275C9847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733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Add Cloudflare SFU media analytics collection to the exam report pipeline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7BB2F-A855-479F-9F01-F7377B41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4381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6D7B06-6D68-4340-B6E6-95E2A9CD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4381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E8C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420458-B402-428A-86EA-9A4F0DCF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0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B7E8C"/>
                </a:solidFill>
                <a:latin typeface="Aptos"/>
                <a:ea typeface="Aptos"/>
                <a:cs typeface="Aptos"/>
              </a:defRPr>
            </a:pPr>
            <a:r>
              <a:t>Next reporting upgrade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7593EF-1CF4-4B58-B519-9B2EA744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769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Add Cloudflare SFU media analytics and R2 usage metrics to the same report pipeline so future reports cover both application health and external media/storage traffic.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37C0B1-2BA2-4ACF-B407-4AF85A47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19700"/>
            <a:ext cx="4381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476A28-488B-489C-90B9-A4D3A74E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19700"/>
            <a:ext cx="4381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4D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948E46-1C05-4EC2-9D83-28B97EDA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10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F7A4D"/>
                </a:solidFill>
                <a:latin typeface="Aptos"/>
                <a:ea typeface="Aptos"/>
                <a:cs typeface="Aptos"/>
              </a:defRPr>
            </a:pPr>
            <a:r>
              <a:t>Next reliability upgrade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7F0FDA-5EDE-4CBF-B474-0FECA3B9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6769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E6B78"/>
                </a:solidFill>
                <a:latin typeface="Aptos"/>
                <a:ea typeface="Aptos"/>
                <a:cs typeface="Aptos"/>
              </a:defRPr>
            </a:pPr>
            <a:r>
              <a:t>Turn duplicate-key DB warnings into idempotent write paths. This reduces noise and makes incident review faster during high-stakes exams.</a:t>
            </a:r>
          </a:p>
        </p:txBody>
      </p:sp>
    </p:spTree>
    <p:extLst>
      <p:ext uri="{BB962C8B-B14F-4D97-AF65-F5344CB8AC3E}">
        <p14:creationId xmlns:p14="http://schemas.microsoft.com/office/powerpoint/2010/main" val="12520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2026-05-06T07:44:56.2600000Z</dcterms:created>
  <dcterms:modified xsi:type="dcterms:W3CDTF">2026-05-06T07:44:56.2600000Z</dcterms:modified>
</coreProperties>
</file>